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2169765"/>
            <a:ext cx="3467100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384" y="2741265"/>
            <a:ext cx="9851231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oppins"/>
              </a:rPr>
              <a:t>Explorando los LLM 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4587" y="3602235"/>
            <a:ext cx="73628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Arquitectura interna, tokens, embeddings, atención y criterios de selección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2643187" y="4202310"/>
            <a:ext cx="6905625" cy="485775"/>
          </a:xfrm>
          <a:prstGeom prst="rect">
            <a:avLst/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1312" y="4345185"/>
            <a:ext cx="6429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1" u="none">
                <a:solidFill>
                  <a:srgbClr val="CBD5E1"/>
                </a:solidFill>
                <a:latin typeface="Inter"/>
              </a:rPr>
              <a:t> ¿Qué ocurre exactamente bajo el capó cuando escribimos una frase a un LLM? </a:t>
            </a:r>
          </a:p>
        </p:txBody>
      </p:sp>
      <p:sp>
        <p:nvSpPr>
          <p:cNvPr id="8" name="Rectangle 7"/>
          <p:cNvSpPr/>
          <p:nvPr/>
        </p:nvSpPr>
        <p:spPr>
          <a:xfrm>
            <a:off x="2643187" y="4202310"/>
            <a:ext cx="38100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5450" y="2243137"/>
            <a:ext cx="1181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8BDF8"/>
                </a:solidFill>
                <a:latin typeface="Inter SemiBold"/>
              </a:rPr>
              <a:t>BLOQUE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271938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539" y="3043237"/>
            <a:ext cx="736092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oppins"/>
              </a:rPr>
              <a:t>Fundamentos y Evolución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250" y="4043362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Rompiendo mitos de adopción y analizando la trayectoria técnica de los modelos lingüísticos.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76550"/>
            <a:ext cx="5324475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76550"/>
            <a:ext cx="5324475" cy="1933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19450"/>
            <a:ext cx="487060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oppins"/>
              </a:rPr>
              <a:t>No existe un modelo universal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95700"/>
            <a:ext cx="46386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La selección de un modelo no se basa en modas de marketing, sino en la evaluación precisa de trade-offs técnicos específicos para cada problema de negocio.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19450"/>
            <a:ext cx="487060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oppins"/>
              </a:rPr>
              <a:t>Variables de Decisión Críticas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95700"/>
            <a:ext cx="46386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Latencia p95, coste por millón de tokens, seguridad de datos, restricciones de despliegue (API vs On-Premises) y precisión en dominio especializado.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El Mito del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"Mejor LLM"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8887"/>
            <a:ext cx="3517850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528887"/>
            <a:ext cx="3517850" cy="262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528887"/>
            <a:ext cx="351785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675" y="3433762"/>
            <a:ext cx="31736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oppins"/>
              </a:rPr>
              <a:t>Sistemas Basados en Reglas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3833812"/>
            <a:ext cx="30225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Años 80-90. Gramáticas manuales y lógica simbólica rígida incapaces de escalar ante la ambigüedad humana.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650" y="3433762"/>
            <a:ext cx="31736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oppins"/>
              </a:rPr>
              <a:t>Estadística &amp; RNN/LSTM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833812"/>
            <a:ext cx="30225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N-gramas y redes recurrentes. Memoria secuencial limitada que sufría de desvanecimiento de gradiente a largo plazo.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3433762"/>
            <a:ext cx="31736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oppins"/>
              </a:rPr>
              <a:t>La Era 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833812"/>
            <a:ext cx="30225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2017 - Presente. Mecanismo de atención total en paralelo. Escalado masivo con internet entero como corpus de entrenamiento.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862262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862262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862262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Evolución Tecnológica: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De Reglas al Transformer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2243137"/>
            <a:ext cx="1219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8BDF8"/>
                </a:solidFill>
                <a:latin typeface="Inter SemiBold"/>
              </a:rPr>
              <a:t>BLOQUE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271938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95387" y="3043237"/>
            <a:ext cx="9801225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oppins"/>
              </a:rPr>
              <a:t>Anatomía Interna del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250" y="4043362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El pipeline técnico: de caracteres en texto plano a representaciones vectoriales y predicción probabilística.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43175"/>
            <a:ext cx="5324475" cy="2600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13420" y="3552825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oppins"/>
              </a:rPr>
              <a:t>Fragmentación Dinámica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4150" y="3981450"/>
            <a:ext cx="48291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F8FAFC"/>
                </a:solidFill>
                <a:latin typeface="monospace"/>
              </a:rPr>
              <a:t>"Gato" → [Gato] (1 token)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4362450"/>
            <a:ext cx="48291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F8FAFC"/>
                </a:solidFill>
                <a:latin typeface="monospace"/>
              </a:rPr>
              <a:t>"corriendo" → [corr] + [iendo] (2 tokens)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543175"/>
            <a:ext cx="50577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Byte-Pair Encoding (BPE):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Los LLM no procesan palabras completas, sino subpalabras estadísticas optimizadas por frecuencia.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57575"/>
            <a:ext cx="50577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Impacto Lingüístico: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Las lenguas latinas (español) consumen de media un 25-30% más de tokens que el inglés para la misma semántica.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371975"/>
            <a:ext cx="50577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Eficiencia de Costes: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El número de tokens determina directamente el coste computacional, la latencia y el uso de la ventana de contexto.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287" y="3076575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2543175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457575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371975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Paso 1: Del Texto a los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Tokens (BPE)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43087"/>
            <a:ext cx="53244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852612"/>
            <a:ext cx="21717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200" y="1843087"/>
            <a:ext cx="50577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Espacio Latente Continuo: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Cada identificador numérico de token se transforma en un vector denso de alta dimensión ( , típicamente 4096d).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0" y="2808833"/>
            <a:ext cx="50577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Geometría Semántica: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La proximidad espacial representa cercanía conceptual y similitud de significado en el corpus.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466058"/>
            <a:ext cx="50577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Álgebra Lineal de Conceptos: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Las relaciones relativas operan vectorialmente (ej. Rey - Hombre + Mujer ≈ Reina).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843087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808833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3466058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396430"/>
            <a:ext cx="280838" cy="1896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Paso 2: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Embeddings Vectoriales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47962"/>
            <a:ext cx="5324475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7962"/>
            <a:ext cx="5324475" cy="2190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90862"/>
            <a:ext cx="487060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oppins"/>
              </a:rPr>
              <a:t>Mecanismo Q, K,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67112"/>
            <a:ext cx="463867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Cada token genera vectores Query (qué busca), Key (qué ofrece) y Value (su contenido). Mediante producto escalar y Softmax, se calcula exactamente a qué palabras prestar atención en la frase.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19450"/>
            <a:ext cx="487060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oppins"/>
              </a:rPr>
              <a:t>Ambigüedad Resuelta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95700"/>
            <a:ext cx="46386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La representación vectorial de la palabra </a:t>
            </a:r>
            <a:r>
              <a:rPr b="0" sz="1350" i="1" u="none">
                <a:solidFill>
                  <a:srgbClr val="94A3B8"/>
                </a:solidFill>
                <a:latin typeface="Inter"/>
              </a:rPr>
              <a:t>"bank"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cambia dinámicamente si aparece junto a </a:t>
            </a:r>
            <a:r>
              <a:rPr b="0" sz="1350" i="1" u="none">
                <a:solidFill>
                  <a:srgbClr val="94A3B8"/>
                </a:solidFill>
                <a:latin typeface="Inter"/>
              </a:rPr>
              <a:t>"loan"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(finanzas) o junto a </a:t>
            </a:r>
            <a:r>
              <a:rPr b="0" sz="1350" i="1" u="none">
                <a:solidFill>
                  <a:srgbClr val="94A3B8"/>
                </a:solidFill>
                <a:latin typeface="Inter"/>
              </a:rPr>
              <a:t>"river"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(geografía física).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Paso 3: Contexto Dinámico y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Self-Attention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43175"/>
            <a:ext cx="5324475" cy="2600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13420" y="361950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oppins"/>
              </a:rPr>
              <a:t>Inferencia Token a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4150" y="4162425"/>
            <a:ext cx="48291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Salida de Logits → Función Softmax (Suma 100%) → Muestreo Estocástico o Greedy.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2543175"/>
            <a:ext cx="50577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Predicción Secuencial: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El modelo calcula probabilidades para el siguiente token, selecciona uno y lo reinyecta como entrada para el ciclo siguiente.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57575"/>
            <a:ext cx="50577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Parámetro de Temperatura: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Regula la entropía de la distribución de probabilidad (baja = determinista, alta = creativo).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371975"/>
            <a:ext cx="50577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Filtros Top-k / Top-p: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Restringen la cola de probabilidad estadística para evitar desvíos o alucinaciones graves en producción.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337" y="3048000"/>
            <a:ext cx="3048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543175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457575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371975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Paso 4: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Bucle Autoregresivo</a:t>
            </a:r>
            <a:r>
              <a:rPr b="1" sz="2850" i="0" u="none">
                <a:solidFill>
                  <a:srgbClr val="F8FAFC"/>
                </a:solidFill>
                <a:latin typeface="Poppins"/>
              </a:rPr>
              <a:t> y Generación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1637" y="2243137"/>
            <a:ext cx="1228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8BDF8"/>
                </a:solidFill>
                <a:latin typeface="Inter SemiBold"/>
              </a:rPr>
              <a:t>BLOQUE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271938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367" y="3043237"/>
            <a:ext cx="10121265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oppins"/>
              </a:rPr>
              <a:t>Ecosistema y Criterios de Selección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250" y="4043362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Comparativa objetiva entre APIs gestionadas comerciales y modelos de pesos abiertos (Open Weights).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333625"/>
            <a:ext cx="11029950" cy="3019425"/>
          </a:xfrm>
          <a:prstGeom prst="roundRect">
            <a:avLst>
              <a:gd name="adj" fmla="val 0"/>
            </a:avLst>
          </a:prstGeom>
          <a:solidFill>
            <a:srgbClr val="13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33625"/>
          <a:ext cx="11020424" cy="301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68178"/>
                <a:gridCol w="3418879"/>
                <a:gridCol w="5033367"/>
              </a:tblGrid>
              <a:tr h="754856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Familia / Proveedor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Filosofía Arquitectónica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Implicación Operativa (Ops)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23B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GPT (OpenAI) / Claude (Anthropic)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APIs comerciales gestionadas de circuito cerrado.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ZeroOps, pago por uso por token, dependencia de proveedores externos.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485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Gemini (Google)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Multimodalidad nativa a escala masiva.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Excelente rendimiento con ingesta compleja de vídeo, audio y texto largo.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485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Llama (Meta) / Mistral / DeepSeek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Modelos de pesos abiertos (Open-weights).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Control total de privacidad, despliegue en infraestructura propia (CapEx de GPU).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909887"/>
            <a:ext cx="25681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53965" y="2909887"/>
            <a:ext cx="341887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72845" y="2909887"/>
            <a:ext cx="503336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787" y="3719512"/>
            <a:ext cx="25681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3965" y="3719512"/>
            <a:ext cx="341887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72845" y="3719512"/>
            <a:ext cx="503336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787" y="4529137"/>
            <a:ext cx="25681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3965" y="4529137"/>
            <a:ext cx="341887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72845" y="4529137"/>
            <a:ext cx="503336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Comparativa del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Ecosistema Actual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8887"/>
            <a:ext cx="3517850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528887"/>
            <a:ext cx="3517850" cy="262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528887"/>
            <a:ext cx="351785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675" y="3433762"/>
            <a:ext cx="31736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oppins"/>
              </a:rPr>
              <a:t>Tiktokenizer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3833812"/>
            <a:ext cx="30225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Herramienta empírica para visualizar cómo diferentes codificadores tokenizan código, texto y emojis en tiempo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650" y="3433762"/>
            <a:ext cx="31736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oppins"/>
              </a:rPr>
              <a:t>BBycroft 3D Visualizer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833812"/>
            <a:ext cx="30225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Maqueta interactiva para inspeccionar el flujo matricial y las conexiones de atención en un Transformer simplificado.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3433762"/>
            <a:ext cx="31736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oppins"/>
              </a:rPr>
              <a:t>Validación Empírica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833812"/>
            <a:ext cx="30225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Diseño de pruebas controladas con 50 consultas reales de tu propio caso de uso para medir latencia p95 y precisión.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862262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862262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862262"/>
            <a:ext cx="3048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Herramientas de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Experimentación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81275"/>
            <a:ext cx="5324475" cy="2524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1275"/>
            <a:ext cx="5324475" cy="2524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924175"/>
            <a:ext cx="4870608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oppins"/>
              </a:rPr>
              <a:t>Retrieval-Augmented Generation (RAG)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733800"/>
            <a:ext cx="463867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Busca fragmentos externos relevantes en una base de datos vectorial y los inyecta en el contexto. El LLM responde acotado a la evidencia documental, mitigando alucinaciones.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90862"/>
            <a:ext cx="487060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oppins"/>
              </a:rPr>
              <a:t>Cuándo aplicar cada estrategia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67112"/>
            <a:ext cx="463867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Usa RAG para bases de conocimiento dinámicas y auditoría estricta de fuentes. Reserva el Fine-Tuning para modificar estilo de respuesta, tono o vocabulario muy especializado.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Patrón Arquitectónico: </a:t>
            </a:r>
            <a:r>
              <a:rPr b="1" sz="2850" i="0" u="none">
                <a:solidFill>
                  <a:srgbClr val="38BDF8"/>
                </a:solidFill>
                <a:latin typeface="Poppins"/>
              </a:rPr>
              <a:t>RAG vs Fine-Tuning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231" y="1814512"/>
            <a:ext cx="2395537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0555" y="2338387"/>
            <a:ext cx="71108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oppins"/>
              </a:rPr>
              <a:t>Ingeniería, Datos y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14687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Los LLM operan sobre representaciones vectoriales estables. Elegir modelo y arquitectura es un proceso técnico basado en métricas empíricas de tu propio dominio, nunca en fe ciega.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357687"/>
            <a:ext cx="7620000" cy="685800"/>
          </a:xfrm>
          <a:prstGeom prst="rect">
            <a:avLst/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4125" y="4500562"/>
            <a:ext cx="7143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1" u="none">
                <a:solidFill>
                  <a:srgbClr val="CBD5E1"/>
                </a:solidFill>
                <a:latin typeface="Inter"/>
              </a:rPr>
              <a:t> ¿Qué caso de uso llevarás a prueba con métricas reales en tu próximo proyecto? • Turno de Preguntas (Q&amp;A) 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357687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360521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90800" y="3612356"/>
            <a:ext cx="81057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https://images.stockcake.com/public/4/d/0/4d009b08-abef-4e04-b1c4-b04455762ebb_large/neural-network-visualization-stockcake.jpg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0800" y="3845718"/>
            <a:ext cx="810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